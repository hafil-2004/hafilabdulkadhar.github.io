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fil A" userId="7b99caf8e782a508" providerId="LiveId" clId="{61B7F019-3AD6-48B3-8E78-1A20ECAF7C26}"/>
    <pc:docChg chg="delSld modSld">
      <pc:chgData name="Hafil A" userId="7b99caf8e782a508" providerId="LiveId" clId="{61B7F019-3AD6-48B3-8E78-1A20ECAF7C26}" dt="2024-06-07T06:22:45.273" v="65" actId="20577"/>
      <pc:docMkLst>
        <pc:docMk/>
      </pc:docMkLst>
      <pc:sldChg chg="modSp mod">
        <pc:chgData name="Hafil A" userId="7b99caf8e782a508" providerId="LiveId" clId="{61B7F019-3AD6-48B3-8E78-1A20ECAF7C26}" dt="2024-06-07T06:22:45.273" v="65" actId="20577"/>
        <pc:sldMkLst>
          <pc:docMk/>
          <pc:sldMk cId="2157663017" sldId="256"/>
        </pc:sldMkLst>
        <pc:spChg chg="mod">
          <ac:chgData name="Hafil A" userId="7b99caf8e782a508" providerId="LiveId" clId="{61B7F019-3AD6-48B3-8E78-1A20ECAF7C26}" dt="2024-06-07T06:22:45.273" v="65" actId="20577"/>
          <ac:spMkLst>
            <pc:docMk/>
            <pc:sldMk cId="2157663017" sldId="256"/>
            <ac:spMk id="2" creationId="{EDD861AA-B0AD-68AA-574D-441269C68FD3}"/>
          </ac:spMkLst>
        </pc:spChg>
      </pc:sldChg>
      <pc:sldChg chg="modSp mod">
        <pc:chgData name="Hafil A" userId="7b99caf8e782a508" providerId="LiveId" clId="{61B7F019-3AD6-48B3-8E78-1A20ECAF7C26}" dt="2024-06-07T04:59:49.352" v="51" actId="14100"/>
        <pc:sldMkLst>
          <pc:docMk/>
          <pc:sldMk cId="2987949044" sldId="260"/>
        </pc:sldMkLst>
        <pc:spChg chg="mod">
          <ac:chgData name="Hafil A" userId="7b99caf8e782a508" providerId="LiveId" clId="{61B7F019-3AD6-48B3-8E78-1A20ECAF7C26}" dt="2024-06-07T04:59:49.352" v="51" actId="14100"/>
          <ac:spMkLst>
            <pc:docMk/>
            <pc:sldMk cId="2987949044" sldId="260"/>
            <ac:spMk id="3" creationId="{46AD19B9-ED4C-2E46-4283-AEA40600CD62}"/>
          </ac:spMkLst>
        </pc:spChg>
      </pc:sldChg>
      <pc:sldChg chg="modSp mod">
        <pc:chgData name="Hafil A" userId="7b99caf8e782a508" providerId="LiveId" clId="{61B7F019-3AD6-48B3-8E78-1A20ECAF7C26}" dt="2024-05-23T13:47:50.216" v="1" actId="20577"/>
        <pc:sldMkLst>
          <pc:docMk/>
          <pc:sldMk cId="2181570481" sldId="261"/>
        </pc:sldMkLst>
        <pc:spChg chg="mod">
          <ac:chgData name="Hafil A" userId="7b99caf8e782a508" providerId="LiveId" clId="{61B7F019-3AD6-48B3-8E78-1A20ECAF7C26}" dt="2024-05-23T13:47:50.216" v="1" actId="20577"/>
          <ac:spMkLst>
            <pc:docMk/>
            <pc:sldMk cId="2181570481" sldId="261"/>
            <ac:spMk id="3" creationId="{9C45FBF3-CBEB-AC68-9DA3-4644E74FF309}"/>
          </ac:spMkLst>
        </pc:spChg>
      </pc:sldChg>
      <pc:sldChg chg="del">
        <pc:chgData name="Hafil A" userId="7b99caf8e782a508" providerId="LiveId" clId="{61B7F019-3AD6-48B3-8E78-1A20ECAF7C26}" dt="2024-06-07T05:19:18.117" v="52" actId="2696"/>
        <pc:sldMkLst>
          <pc:docMk/>
          <pc:sldMk cId="1830661528" sldId="263"/>
        </pc:sldMkLst>
      </pc:sldChg>
      <pc:sldChg chg="modSp mod">
        <pc:chgData name="Hafil A" userId="7b99caf8e782a508" providerId="LiveId" clId="{61B7F019-3AD6-48B3-8E78-1A20ECAF7C26}" dt="2024-05-23T13:48:46.338" v="35" actId="20577"/>
        <pc:sldMkLst>
          <pc:docMk/>
          <pc:sldMk cId="1901643689" sldId="266"/>
        </pc:sldMkLst>
        <pc:spChg chg="mod">
          <ac:chgData name="Hafil A" userId="7b99caf8e782a508" providerId="LiveId" clId="{61B7F019-3AD6-48B3-8E78-1A20ECAF7C26}" dt="2024-05-23T13:48:46.338" v="35" actId="20577"/>
          <ac:spMkLst>
            <pc:docMk/>
            <pc:sldMk cId="1901643689" sldId="266"/>
            <ac:spMk id="2" creationId="{03B5F438-D4A2-A09A-F4E1-28473D6DC8B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4DDF3F-81CC-417D-9F63-5A623FBE575A}" type="datetimeFigureOut">
              <a:rPr lang="en-IN" smtClean="0"/>
              <a:t>07-06-2024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AB7628-9FA5-4CAE-A75C-BE6DF809E20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3320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4DDF3F-81CC-417D-9F63-5A623FBE575A}" type="datetimeFigureOut">
              <a:rPr lang="en-IN" smtClean="0"/>
              <a:t>07-06-2024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AB7628-9FA5-4CAE-A75C-BE6DF809E20A}" type="slidenum">
              <a:rPr lang="en-IN" smtClean="0"/>
              <a:t>‹#›</a:t>
            </a:fld>
            <a:endParaRPr lang="en-IN"/>
          </a:p>
        </p:txBody>
      </p:sp>
    </p:spTree>
    <p:extLst>
      <p:ext uri="{BB962C8B-B14F-4D97-AF65-F5344CB8AC3E}">
        <p14:creationId xmlns:p14="http://schemas.microsoft.com/office/powerpoint/2010/main" val="2834822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4DDF3F-81CC-417D-9F63-5A623FBE575A}" type="datetimeFigureOut">
              <a:rPr lang="en-IN" smtClean="0"/>
              <a:t>07-06-2024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AB7628-9FA5-4CAE-A75C-BE6DF809E20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8572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4DDF3F-81CC-417D-9F63-5A623FBE575A}" type="datetimeFigureOut">
              <a:rPr lang="en-IN" smtClean="0"/>
              <a:t>07-06-2024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AB7628-9FA5-4CAE-A75C-BE6DF809E20A}" type="slidenum">
              <a:rPr lang="en-IN" smtClean="0"/>
              <a:t>‹#›</a:t>
            </a:fld>
            <a:endParaRPr lang="en-IN"/>
          </a:p>
        </p:txBody>
      </p:sp>
    </p:spTree>
    <p:extLst>
      <p:ext uri="{BB962C8B-B14F-4D97-AF65-F5344CB8AC3E}">
        <p14:creationId xmlns:p14="http://schemas.microsoft.com/office/powerpoint/2010/main" val="2656403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4DDF3F-81CC-417D-9F63-5A623FBE575A}" type="datetimeFigureOut">
              <a:rPr lang="en-IN" smtClean="0"/>
              <a:t>07-06-2024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4AB7628-9FA5-4CAE-A75C-BE6DF809E20A}" type="slidenum">
              <a:rPr lang="en-IN" smtClean="0"/>
              <a:t>‹#›</a:t>
            </a:fld>
            <a:endParaRPr lang="en-IN"/>
          </a:p>
        </p:txBody>
      </p:sp>
    </p:spTree>
    <p:extLst>
      <p:ext uri="{BB962C8B-B14F-4D97-AF65-F5344CB8AC3E}">
        <p14:creationId xmlns:p14="http://schemas.microsoft.com/office/powerpoint/2010/main" val="4263553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4DDF3F-81CC-417D-9F63-5A623FBE575A}" type="datetimeFigureOut">
              <a:rPr lang="en-IN" smtClean="0"/>
              <a:t>07-06-2024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4AB7628-9FA5-4CAE-A75C-BE6DF809E20A}" type="slidenum">
              <a:rPr lang="en-IN" smtClean="0"/>
              <a:t>‹#›</a:t>
            </a:fld>
            <a:endParaRPr lang="en-IN"/>
          </a:p>
        </p:txBody>
      </p:sp>
    </p:spTree>
    <p:extLst>
      <p:ext uri="{BB962C8B-B14F-4D97-AF65-F5344CB8AC3E}">
        <p14:creationId xmlns:p14="http://schemas.microsoft.com/office/powerpoint/2010/main" val="415592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94DDF3F-81CC-417D-9F63-5A623FBE575A}" type="datetimeFigureOut">
              <a:rPr lang="en-IN" smtClean="0"/>
              <a:t>07-06-2024</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A4AB7628-9FA5-4CAE-A75C-BE6DF809E20A}" type="slidenum">
              <a:rPr lang="en-IN" smtClean="0"/>
              <a:t>‹#›</a:t>
            </a:fld>
            <a:endParaRPr lang="en-IN"/>
          </a:p>
        </p:txBody>
      </p:sp>
    </p:spTree>
    <p:extLst>
      <p:ext uri="{BB962C8B-B14F-4D97-AF65-F5344CB8AC3E}">
        <p14:creationId xmlns:p14="http://schemas.microsoft.com/office/powerpoint/2010/main" val="3593846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94DDF3F-81CC-417D-9F63-5A623FBE575A}" type="datetimeFigureOut">
              <a:rPr lang="en-IN" smtClean="0"/>
              <a:t>07-06-2024</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4AB7628-9FA5-4CAE-A75C-BE6DF809E20A}" type="slidenum">
              <a:rPr lang="en-IN" smtClean="0"/>
              <a:t>‹#›</a:t>
            </a:fld>
            <a:endParaRPr lang="en-IN"/>
          </a:p>
        </p:txBody>
      </p:sp>
    </p:spTree>
    <p:extLst>
      <p:ext uri="{BB962C8B-B14F-4D97-AF65-F5344CB8AC3E}">
        <p14:creationId xmlns:p14="http://schemas.microsoft.com/office/powerpoint/2010/main" val="1653583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4DDF3F-81CC-417D-9F63-5A623FBE575A}" type="datetimeFigureOut">
              <a:rPr lang="en-IN" smtClean="0"/>
              <a:t>07-06-2024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AB7628-9FA5-4CAE-A75C-BE6DF809E20A}" type="slidenum">
              <a:rPr lang="en-IN" smtClean="0"/>
              <a:t>‹#›</a:t>
            </a:fld>
            <a:endParaRPr lang="en-IN"/>
          </a:p>
        </p:txBody>
      </p:sp>
    </p:spTree>
    <p:extLst>
      <p:ext uri="{BB962C8B-B14F-4D97-AF65-F5344CB8AC3E}">
        <p14:creationId xmlns:p14="http://schemas.microsoft.com/office/powerpoint/2010/main" val="3969354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4DDF3F-81CC-417D-9F63-5A623FBE575A}" type="datetimeFigureOut">
              <a:rPr lang="en-IN" smtClean="0"/>
              <a:t>07-06-2024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AB7628-9FA5-4CAE-A75C-BE6DF809E20A}" type="slidenum">
              <a:rPr lang="en-IN" smtClean="0"/>
              <a:t>‹#›</a:t>
            </a:fld>
            <a:endParaRPr lang="en-IN"/>
          </a:p>
        </p:txBody>
      </p:sp>
    </p:spTree>
    <p:extLst>
      <p:ext uri="{BB962C8B-B14F-4D97-AF65-F5344CB8AC3E}">
        <p14:creationId xmlns:p14="http://schemas.microsoft.com/office/powerpoint/2010/main" val="3529381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4DDF3F-81CC-417D-9F63-5A623FBE575A}" type="datetimeFigureOut">
              <a:rPr lang="en-IN" smtClean="0"/>
              <a:t>07-06-2024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AB7628-9FA5-4CAE-A75C-BE6DF809E20A}" type="slidenum">
              <a:rPr lang="en-IN" smtClean="0"/>
              <a:t>‹#›</a:t>
            </a:fld>
            <a:endParaRPr lang="en-IN"/>
          </a:p>
        </p:txBody>
      </p:sp>
    </p:spTree>
    <p:extLst>
      <p:ext uri="{BB962C8B-B14F-4D97-AF65-F5344CB8AC3E}">
        <p14:creationId xmlns:p14="http://schemas.microsoft.com/office/powerpoint/2010/main" val="3521633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94DDF3F-81CC-417D-9F63-5A623FBE575A}" type="datetimeFigureOut">
              <a:rPr lang="en-IN" smtClean="0"/>
              <a:t>07-06-2024</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4AB7628-9FA5-4CAE-A75C-BE6DF809E20A}"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54391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vestreamtechnologies.co.in/" TargetMode="External"/><Relationship Id="rId2" Type="http://schemas.openxmlformats.org/officeDocument/2006/relationships/hyperlink" Target="mailto:info@livestreamtechnologies.co.i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861AA-B0AD-68AA-574D-441269C68FD3}"/>
              </a:ext>
            </a:extLst>
          </p:cNvPr>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IET Review-1</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Grievances Registration and Management System</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9F5C6DF-B0AC-7529-68BB-6C46E6CF68D4}"/>
              </a:ext>
            </a:extLst>
          </p:cNvPr>
          <p:cNvSpPr>
            <a:spLocks noGrp="1"/>
          </p:cNvSpPr>
          <p:nvPr>
            <p:ph type="subTitle" idx="1"/>
          </p:nvPr>
        </p:nvSpPr>
        <p:spPr/>
        <p:txBody>
          <a:bodyPr/>
          <a:lstStyle/>
          <a:p>
            <a:r>
              <a:rPr lang="en-IN" dirty="0"/>
              <a:t>-Hafil. A</a:t>
            </a:r>
          </a:p>
          <a:p>
            <a:r>
              <a:rPr lang="en-IN" dirty="0"/>
              <a:t>-22bct017</a:t>
            </a:r>
          </a:p>
        </p:txBody>
      </p:sp>
    </p:spTree>
    <p:extLst>
      <p:ext uri="{BB962C8B-B14F-4D97-AF65-F5344CB8AC3E}">
        <p14:creationId xmlns:p14="http://schemas.microsoft.com/office/powerpoint/2010/main" val="2157663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C6FA0-BFB5-5219-12C0-33D99D02A19F}"/>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Introduction To Company</a:t>
            </a:r>
          </a:p>
        </p:txBody>
      </p:sp>
      <p:sp>
        <p:nvSpPr>
          <p:cNvPr id="3" name="Content Placeholder 2">
            <a:extLst>
              <a:ext uri="{FF2B5EF4-FFF2-40B4-BE49-F238E27FC236}">
                <a16:creationId xmlns:a16="http://schemas.microsoft.com/office/drawing/2014/main" id="{9F48894D-F215-D1CF-4A36-BE65F53E4F20}"/>
              </a:ext>
            </a:extLst>
          </p:cNvPr>
          <p:cNvSpPr>
            <a:spLocks noGrp="1"/>
          </p:cNvSpPr>
          <p:nvPr>
            <p:ph idx="1"/>
          </p:nvPr>
        </p:nvSpPr>
        <p:spPr/>
        <p:txBody>
          <a:bodyPr>
            <a:normAutofit lnSpcReduction="10000"/>
          </a:bodyPr>
          <a:lstStyle/>
          <a:p>
            <a:pPr marL="0" indent="0">
              <a:buNone/>
            </a:pPr>
            <a:r>
              <a:rPr lang="en-US" sz="2400" b="1" i="0" dirty="0">
                <a:solidFill>
                  <a:srgbClr val="444444"/>
                </a:solidFill>
                <a:effectLst/>
                <a:highlight>
                  <a:srgbClr val="FFFFFF"/>
                </a:highlight>
                <a:latin typeface="Times New Roman" panose="02020603050405020304" pitchFamily="18" charset="0"/>
                <a:cs typeface="Times New Roman" panose="02020603050405020304" pitchFamily="18" charset="0"/>
              </a:rPr>
              <a:t>Live Stream Technologies</a:t>
            </a:r>
          </a:p>
          <a:p>
            <a:br>
              <a:rPr lang="en-US" dirty="0">
                <a:latin typeface="Times New Roman" panose="02020603050405020304" pitchFamily="18" charset="0"/>
                <a:cs typeface="Times New Roman" panose="02020603050405020304" pitchFamily="18" charset="0"/>
              </a:rPr>
            </a:br>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No 207, AK Complex - 2nd Floor,</a:t>
            </a:r>
            <a:br>
              <a:rPr lang="en-US" dirty="0">
                <a:latin typeface="Times New Roman" panose="02020603050405020304" pitchFamily="18" charset="0"/>
                <a:cs typeface="Times New Roman" panose="02020603050405020304" pitchFamily="18" charset="0"/>
              </a:rPr>
            </a:br>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6th Street – Cross-cut road,</a:t>
            </a:r>
            <a:br>
              <a:rPr lang="en-US" dirty="0">
                <a:latin typeface="Times New Roman" panose="02020603050405020304" pitchFamily="18" charset="0"/>
                <a:cs typeface="Times New Roman" panose="02020603050405020304" pitchFamily="18" charset="0"/>
              </a:rPr>
            </a:br>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Opp Shree Devi Textiles (2nd Car Parking),</a:t>
            </a:r>
            <a:br>
              <a:rPr lang="en-US" dirty="0">
                <a:latin typeface="Times New Roman" panose="02020603050405020304" pitchFamily="18" charset="0"/>
                <a:cs typeface="Times New Roman" panose="02020603050405020304" pitchFamily="18" charset="0"/>
              </a:rPr>
            </a:br>
            <a:r>
              <a:rPr lang="en-US" b="0" i="0" dirty="0" err="1">
                <a:solidFill>
                  <a:srgbClr val="444444"/>
                </a:solidFill>
                <a:effectLst/>
                <a:highlight>
                  <a:srgbClr val="FFFFFF"/>
                </a:highlight>
                <a:latin typeface="Times New Roman" panose="02020603050405020304" pitchFamily="18" charset="0"/>
                <a:cs typeface="Times New Roman" panose="02020603050405020304" pitchFamily="18" charset="0"/>
              </a:rPr>
              <a:t>Gandhipuram</a:t>
            </a:r>
            <a:r>
              <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rPr>
              <a:t>, Coimbatore-12</a:t>
            </a:r>
          </a:p>
          <a:p>
            <a:endPar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endParaRPr>
          </a:p>
          <a:p>
            <a:r>
              <a:rPr lang="en-IN" b="1" i="0" dirty="0">
                <a:solidFill>
                  <a:srgbClr val="444444"/>
                </a:solidFill>
                <a:effectLst/>
                <a:highlight>
                  <a:srgbClr val="F9F9F9"/>
                </a:highlight>
                <a:latin typeface="Open Sans" panose="020B0606030504020204" pitchFamily="34" charset="0"/>
              </a:rPr>
              <a:t>ISO 9001:2015 CERTIFIED COMPANY</a:t>
            </a:r>
          </a:p>
          <a:p>
            <a:endParaRPr lang="en-US" b="0" i="0" dirty="0">
              <a:solidFill>
                <a:srgbClr val="444444"/>
              </a:solidFill>
              <a:effectLst/>
              <a:highlight>
                <a:srgbClr val="FFFFFF"/>
              </a:highlight>
              <a:latin typeface="Times New Roman" panose="02020603050405020304" pitchFamily="18" charset="0"/>
              <a:cs typeface="Times New Roman" panose="02020603050405020304" pitchFamily="18" charset="0"/>
            </a:endParaRPr>
          </a:p>
          <a:p>
            <a:r>
              <a:rPr lang="fr-FR" b="1" i="0" u="sng" dirty="0">
                <a:solidFill>
                  <a:srgbClr val="444444"/>
                </a:solidFill>
                <a:effectLst/>
                <a:highlight>
                  <a:srgbClr val="FFFFFF"/>
                </a:highlight>
                <a:latin typeface="Times New Roman" panose="02020603050405020304" pitchFamily="18" charset="0"/>
                <a:cs typeface="Times New Roman" panose="02020603050405020304" pitchFamily="18" charset="0"/>
              </a:rPr>
              <a:t>Email: </a:t>
            </a:r>
            <a:r>
              <a:rPr lang="fr-FR" b="0" i="0" dirty="0">
                <a:solidFill>
                  <a:srgbClr val="444444"/>
                </a:solidFill>
                <a:effectLst/>
                <a:highlight>
                  <a:srgbClr val="FFFFFF"/>
                </a:highlight>
                <a:latin typeface="Times New Roman" panose="02020603050405020304" pitchFamily="18" charset="0"/>
                <a:cs typeface="Times New Roman" panose="02020603050405020304" pitchFamily="18" charset="0"/>
                <a:hlinkClick r:id="rId2"/>
              </a:rPr>
              <a:t>info@livestreamtechnologies.co.in</a:t>
            </a:r>
            <a:r>
              <a:rPr lang="fr-FR" b="0" i="0" dirty="0">
                <a:solidFill>
                  <a:srgbClr val="444444"/>
                </a:solidFill>
                <a:effectLst/>
                <a:highlight>
                  <a:srgbClr val="FFFFFF"/>
                </a:highlight>
                <a:latin typeface="Times New Roman" panose="02020603050405020304" pitchFamily="18" charset="0"/>
                <a:cs typeface="Times New Roman" panose="02020603050405020304" pitchFamily="18" charset="0"/>
              </a:rPr>
              <a:t> / hr@livestreamtechnologies.co.in</a:t>
            </a:r>
            <a:br>
              <a:rPr lang="fr-FR" dirty="0">
                <a:latin typeface="Times New Roman" panose="02020603050405020304" pitchFamily="18" charset="0"/>
                <a:cs typeface="Times New Roman" panose="02020603050405020304" pitchFamily="18" charset="0"/>
              </a:rPr>
            </a:br>
            <a:r>
              <a:rPr lang="fr-FR" b="1" i="0" u="sng" dirty="0">
                <a:solidFill>
                  <a:srgbClr val="444444"/>
                </a:solidFill>
                <a:effectLst/>
                <a:highlight>
                  <a:srgbClr val="FFFFFF"/>
                </a:highlight>
                <a:latin typeface="Times New Roman" panose="02020603050405020304" pitchFamily="18" charset="0"/>
                <a:cs typeface="Times New Roman" panose="02020603050405020304" pitchFamily="18" charset="0"/>
              </a:rPr>
              <a:t>Web:</a:t>
            </a:r>
            <a:r>
              <a:rPr lang="fr-FR" b="1" i="0" dirty="0">
                <a:solidFill>
                  <a:srgbClr val="444444"/>
                </a:solidFill>
                <a:effectLst/>
                <a:highlight>
                  <a:srgbClr val="FFFFFF"/>
                </a:highlight>
                <a:latin typeface="Times New Roman" panose="02020603050405020304" pitchFamily="18" charset="0"/>
                <a:cs typeface="Times New Roman" panose="02020603050405020304" pitchFamily="18" charset="0"/>
              </a:rPr>
              <a:t> </a:t>
            </a:r>
            <a:r>
              <a:rPr lang="fr-FR" b="0" i="0" dirty="0">
                <a:solidFill>
                  <a:srgbClr val="444444"/>
                </a:solidFill>
                <a:effectLst/>
                <a:highlight>
                  <a:srgbClr val="FFFFFF"/>
                </a:highlight>
                <a:latin typeface="Times New Roman" panose="02020603050405020304" pitchFamily="18" charset="0"/>
                <a:cs typeface="Times New Roman" panose="02020603050405020304" pitchFamily="18" charset="0"/>
                <a:hlinkClick r:id="rId3"/>
              </a:rPr>
              <a:t>www.livestreamtechnologies.co.in</a:t>
            </a:r>
            <a:endParaRPr lang="fr-FR" b="0" i="0" dirty="0">
              <a:solidFill>
                <a:srgbClr val="444444"/>
              </a:solidFill>
              <a:effectLst/>
              <a:highlight>
                <a:srgbClr val="FFFFFF"/>
              </a:highligh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033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25951-937F-042B-870F-19471CC87B7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About The Company </a:t>
            </a:r>
          </a:p>
        </p:txBody>
      </p:sp>
      <p:pic>
        <p:nvPicPr>
          <p:cNvPr id="5" name="Content Placeholder 4">
            <a:extLst>
              <a:ext uri="{FF2B5EF4-FFF2-40B4-BE49-F238E27FC236}">
                <a16:creationId xmlns:a16="http://schemas.microsoft.com/office/drawing/2014/main" id="{BCFD57B1-443C-649B-A4FF-56B7F34DA92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5403" r="4669" b="12541"/>
          <a:stretch/>
        </p:blipFill>
        <p:spPr>
          <a:xfrm>
            <a:off x="1097280" y="1828800"/>
            <a:ext cx="10058400" cy="4434349"/>
          </a:xfrm>
        </p:spPr>
      </p:pic>
    </p:spTree>
    <p:extLst>
      <p:ext uri="{BB962C8B-B14F-4D97-AF65-F5344CB8AC3E}">
        <p14:creationId xmlns:p14="http://schemas.microsoft.com/office/powerpoint/2010/main" val="2270234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B1A09-9363-0DB6-D891-DE2298D3B0B8}"/>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Problem Definition</a:t>
            </a:r>
          </a:p>
        </p:txBody>
      </p:sp>
      <p:sp>
        <p:nvSpPr>
          <p:cNvPr id="3" name="Content Placeholder 2">
            <a:extLst>
              <a:ext uri="{FF2B5EF4-FFF2-40B4-BE49-F238E27FC236}">
                <a16:creationId xmlns:a16="http://schemas.microsoft.com/office/drawing/2014/main" id="{5EBD8166-1F78-C783-DD2C-E8E738099A96}"/>
              </a:ext>
            </a:extLst>
          </p:cNvPr>
          <p:cNvSpPr>
            <a:spLocks noGrp="1"/>
          </p:cNvSpPr>
          <p:nvPr>
            <p:ph idx="1"/>
          </p:nvPr>
        </p:nvSpPr>
        <p:spPr/>
        <p:txBody>
          <a:bodyPr/>
          <a:lstStyle/>
          <a:p>
            <a:pPr algn="just" fontAlgn="base">
              <a:lnSpc>
                <a:spcPts val="1800"/>
              </a:lnSpc>
              <a:spcAft>
                <a:spcPts val="1000"/>
              </a:spcAft>
            </a:pP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Grievance Management System(GMS) is a web-based application designed to provide an online way of solving the public and the organization’s problems. This application software is used to record, resolve &amp; respond to the user’s grievance request and the grievance’s approval, and the user receives a response.</a:t>
            </a:r>
            <a:b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b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We aimed to develop this application software to make grievances easier to Coordinate, Monitor, Track, and Resolve in time. The objective was to provide the organization with an efficient tool to prioritize the target problem areas and improve them. Another reason for developing this application software is to replace the manual record work with an efficient and accurate online record system to enhance work-time constraints.</a:t>
            </a:r>
            <a:endParaRPr lang="en-IN" sz="18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800"/>
              </a:lnSpc>
              <a:spcAft>
                <a:spcPts val="1000"/>
              </a:spcAft>
            </a:pP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The GMS is developed to enhance the current (manual) grievance system by using the web application. Therefore, the GMS can provide several channels for filing the complaint, enabling the users to send the complaint easily and giving the channel for progress reporting by using the web application.</a:t>
            </a:r>
            <a:endParaRPr lang="en-IN" sz="18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800"/>
              </a:lnSpc>
              <a:spcAft>
                <a:spcPts val="1000"/>
              </a:spcAft>
            </a:pP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Moreover, the application can classify the complaint and directly send it to the responsible department; therefore, the system could reduce hiring the operation staff and time of the operation. Furthermore, the GMS allows the employees to manage the complaint through the web application instead of manually on the paper form.</a:t>
            </a:r>
            <a:endParaRPr lang="en-IN" sz="1800" dirty="0">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41246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A6AF4-087B-555B-7F6C-4C554D695A46}"/>
              </a:ext>
            </a:extLst>
          </p:cNvPr>
          <p:cNvSpPr>
            <a:spLocks noGrp="1"/>
          </p:cNvSpPr>
          <p:nvPr>
            <p:ph type="title"/>
          </p:nvPr>
        </p:nvSpPr>
        <p:spPr/>
        <p:txBody>
          <a:bodyPr/>
          <a:lstStyle/>
          <a:p>
            <a:r>
              <a:rPr lang="en-IN" b="1" dirty="0">
                <a:solidFill>
                  <a:srgbClr val="2D2A2A"/>
                </a:solidFill>
                <a:effectLst/>
                <a:latin typeface="Times New Roman" panose="02020603050405020304" pitchFamily="18" charset="0"/>
                <a:ea typeface="Times New Roman" panose="02020603050405020304" pitchFamily="18" charset="0"/>
              </a:rPr>
              <a:t>Existing</a:t>
            </a:r>
            <a:r>
              <a:rPr lang="en-IN" sz="1800" b="1" dirty="0">
                <a:solidFill>
                  <a:srgbClr val="2D2A2A"/>
                </a:solidFill>
                <a:effectLst/>
                <a:latin typeface="Times New Roman" panose="02020603050405020304" pitchFamily="18" charset="0"/>
                <a:ea typeface="Times New Roman" panose="02020603050405020304" pitchFamily="18" charset="0"/>
              </a:rPr>
              <a:t> </a:t>
            </a:r>
            <a:r>
              <a:rPr lang="en-IN" b="1" dirty="0">
                <a:solidFill>
                  <a:srgbClr val="2D2A2A"/>
                </a:solidFill>
                <a:effectLst/>
                <a:latin typeface="Times New Roman" panose="02020603050405020304" pitchFamily="18" charset="0"/>
                <a:ea typeface="Times New Roman" panose="02020603050405020304" pitchFamily="18" charset="0"/>
              </a:rPr>
              <a:t> System</a:t>
            </a:r>
            <a:endParaRPr lang="en-IN" dirty="0"/>
          </a:p>
        </p:txBody>
      </p:sp>
      <p:sp>
        <p:nvSpPr>
          <p:cNvPr id="3" name="Content Placeholder 2">
            <a:extLst>
              <a:ext uri="{FF2B5EF4-FFF2-40B4-BE49-F238E27FC236}">
                <a16:creationId xmlns:a16="http://schemas.microsoft.com/office/drawing/2014/main" id="{46AD19B9-ED4C-2E46-4283-AEA40600CD62}"/>
              </a:ext>
            </a:extLst>
          </p:cNvPr>
          <p:cNvSpPr>
            <a:spLocks noGrp="1"/>
          </p:cNvSpPr>
          <p:nvPr>
            <p:ph idx="1"/>
          </p:nvPr>
        </p:nvSpPr>
        <p:spPr>
          <a:xfrm>
            <a:off x="1122844" y="2231922"/>
            <a:ext cx="10058400" cy="3637171"/>
          </a:xfrm>
        </p:spPr>
        <p:txBody>
          <a:bodyPr/>
          <a:lstStyle/>
          <a:p>
            <a:pPr lvl="0" algn="just" fontAlgn="base">
              <a:lnSpc>
                <a:spcPct val="150000"/>
              </a:lnSpc>
              <a:spcAft>
                <a:spcPts val="750"/>
              </a:spcAft>
              <a:buClrTx/>
              <a:buSzPct val="133000"/>
              <a:buFont typeface="Wingdings" panose="05000000000000000000" pitchFamily="2" charset="2"/>
              <a:buChar char="Ø"/>
              <a:tabLst>
                <a:tab pos="457200" algn="l"/>
              </a:tabLst>
            </a:pPr>
            <a:r>
              <a:rPr lang="en-IN" sz="1800" dirty="0">
                <a:solidFill>
                  <a:schemeClr val="tx1"/>
                </a:solidFill>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It’s a manual process for an earlier system.</a:t>
            </a:r>
            <a:endParaRPr lang="en-IN" sz="18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50000"/>
              </a:lnSpc>
              <a:spcAft>
                <a:spcPts val="750"/>
              </a:spcAft>
              <a:buClrTx/>
              <a:buSzPct val="133000"/>
              <a:buFont typeface="Wingdings" panose="05000000000000000000" pitchFamily="2" charset="2"/>
              <a:buChar char="Ø"/>
              <a:tabLst>
                <a:tab pos="457200" algn="l"/>
              </a:tabLst>
            </a:pP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It’s more time-consuming for all processes.</a:t>
            </a:r>
            <a:endParaRPr lang="en-IN" sz="1800" dirty="0">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50000"/>
              </a:lnSpc>
              <a:spcAft>
                <a:spcPts val="750"/>
              </a:spcAft>
              <a:buClrTx/>
              <a:buSzPct val="133000"/>
              <a:buFont typeface="Wingdings" panose="05000000000000000000" pitchFamily="2" charset="2"/>
              <a:buChar char="Ø"/>
              <a:tabLst>
                <a:tab pos="457200" algn="l"/>
              </a:tabLst>
            </a:pPr>
            <a:r>
              <a:rPr lang="en-IN" sz="1800" dirty="0">
                <a:solidFill>
                  <a:srgbClr val="000000"/>
                </a:solidFill>
                <a:effectLst/>
                <a:highlight>
                  <a:srgbClr val="FFFFFF"/>
                </a:highlight>
                <a:latin typeface="Calibri" panose="020F0502020204030204" pitchFamily="34" charset="0"/>
                <a:ea typeface="Calibri" panose="020F0502020204030204" pitchFamily="34" charset="0"/>
                <a:cs typeface="Times New Roman" panose="02020603050405020304" pitchFamily="18" charset="0"/>
              </a:rPr>
              <a:t>      </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There is a chance to not resolve user problems.</a:t>
            </a:r>
            <a:endParaRPr lang="en-IN" sz="18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50000"/>
              </a:lnSpc>
              <a:spcAft>
                <a:spcPts val="1000"/>
              </a:spcAft>
              <a:buClrTx/>
              <a:buSzPct val="133000"/>
              <a:buFont typeface="Wingdings" panose="05000000000000000000" pitchFamily="2" charset="2"/>
              <a:buChar char="Ø"/>
              <a:tabLst>
                <a:tab pos="457200" algn="l"/>
              </a:tabLst>
            </a:pP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Management is a chance to forget user complaints.</a:t>
            </a:r>
            <a:endParaRPr lang="en-IN" sz="18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87949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41C1-75C1-5B6D-E675-AFF88D3F46F1}"/>
              </a:ext>
            </a:extLst>
          </p:cNvPr>
          <p:cNvSpPr>
            <a:spLocks noGrp="1"/>
          </p:cNvSpPr>
          <p:nvPr>
            <p:ph type="title"/>
          </p:nvPr>
        </p:nvSpPr>
        <p:spPr/>
        <p:txBody>
          <a:bodyPr>
            <a:normAutofit/>
          </a:bodyPr>
          <a:lstStyle/>
          <a:p>
            <a:r>
              <a:rPr lang="en-IN"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Proposed System</a:t>
            </a:r>
            <a:endParaRPr lang="en-IN" sz="115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C45FBF3-CBEB-AC68-9DA3-4644E74FF309}"/>
              </a:ext>
            </a:extLst>
          </p:cNvPr>
          <p:cNvSpPr>
            <a:spLocks noGrp="1"/>
          </p:cNvSpPr>
          <p:nvPr>
            <p:ph idx="1"/>
          </p:nvPr>
        </p:nvSpPr>
        <p:spPr/>
        <p:txBody>
          <a:bodyPr>
            <a:normAutofit fontScale="92500" lnSpcReduction="20000"/>
          </a:bodyPr>
          <a:lstStyle/>
          <a:p>
            <a:pPr lvl="0" algn="just" fontAlgn="base">
              <a:lnSpc>
                <a:spcPct val="150000"/>
              </a:lnSpc>
              <a:spcAft>
                <a:spcPts val="1000"/>
              </a:spcAft>
              <a:buClrTx/>
              <a:buSzPct val="133000"/>
              <a:buFont typeface="Wingdings" panose="05000000000000000000" pitchFamily="2" charset="2"/>
              <a:buChar char="Ø"/>
              <a:tabLst>
                <a:tab pos="457200" algn="l"/>
              </a:tabLst>
            </a:pP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We want to replace existing manual </a:t>
            </a: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GMS (</a:t>
            </a:r>
            <a:r>
              <a:rPr lang="en-IN" sz="1800" b="1" dirty="0">
                <a:solidFill>
                  <a:srgbClr val="000000"/>
                </a:solidFill>
                <a:effectLst/>
                <a:highlight>
                  <a:srgbClr val="FFFFFF"/>
                </a:highlight>
                <a:latin typeface="Times New Roman" panose="02020603050405020304" pitchFamily="18" charset="0"/>
                <a:ea typeface="Calibri" panose="020F0502020204030204" pitchFamily="34" charset="0"/>
                <a:cs typeface="Times New Roman" panose="02020603050405020304" pitchFamily="18" charset="0"/>
              </a:rPr>
              <a:t>Grievances </a:t>
            </a: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Management System)</a:t>
            </a: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 to an application changing the way of maintaining the society complaints will also prove to be beneficial, improve efficiency and save us time.</a:t>
            </a:r>
          </a:p>
          <a:p>
            <a:pPr lvl="0" algn="just" fontAlgn="base">
              <a:lnSpc>
                <a:spcPct val="150000"/>
              </a:lnSpc>
              <a:spcAft>
                <a:spcPts val="1000"/>
              </a:spcAft>
              <a:buClrTx/>
              <a:buSzPct val="133000"/>
              <a:buFont typeface="Wingdings" panose="05000000000000000000" pitchFamily="2" charset="2"/>
              <a:buChar char="Ø"/>
              <a:tabLst>
                <a:tab pos="457200" algn="l"/>
              </a:tabLst>
            </a:pP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By using this application people can register their complaints in easy and proper format .They will also well aware about their complaints progress. They can also provide feedback about their complaints progress weather they are satisfied or not.</a:t>
            </a:r>
          </a:p>
          <a:p>
            <a:pPr lvl="0" algn="just" fontAlgn="base">
              <a:lnSpc>
                <a:spcPct val="150000"/>
              </a:lnSpc>
              <a:spcAft>
                <a:spcPts val="1000"/>
              </a:spcAft>
              <a:buClrTx/>
              <a:buSzPct val="133000"/>
              <a:buFont typeface="Wingdings" panose="05000000000000000000" pitchFamily="2" charset="2"/>
              <a:buChar char="Ø"/>
              <a:tabLst>
                <a:tab pos="457200" algn="l"/>
              </a:tabLst>
            </a:pPr>
            <a:r>
              <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cs typeface="Times New Roman" panose="02020603050405020304" pitchFamily="18" charset="0"/>
              </a:rPr>
              <a:t>Also the user can post their requirements through this system and they will receive  needed items by admin  within couple of hours ,its depending on the needed item and you can also look your status about your requirements. These user complaints, needs requirements maintain by admin. The User post feedback of these GMS system and admin can view this feedback.</a:t>
            </a:r>
            <a:endParaRPr lang="en-IN" sz="1800" dirty="0">
              <a:effectLst/>
              <a:highlight>
                <a:srgbClr val="FFFFFF"/>
              </a:highligh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81570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45AC5-94AC-4C94-6824-DFF764E40638}"/>
              </a:ext>
            </a:extLst>
          </p:cNvPr>
          <p:cNvSpPr>
            <a:spLocks noGrp="1"/>
          </p:cNvSpPr>
          <p:nvPr>
            <p:ph type="title"/>
          </p:nvPr>
        </p:nvSpPr>
        <p:spPr/>
        <p:txBody>
          <a:bodyPr>
            <a:normAutofit/>
          </a:bodyPr>
          <a:lstStyle/>
          <a:p>
            <a:r>
              <a:rPr lang="en-IN" b="1" dirty="0">
                <a:effectLst/>
                <a:latin typeface="Times New Roman" panose="02020603050405020304" pitchFamily="18" charset="0"/>
                <a:ea typeface="Calibri" panose="020F0502020204030204" pitchFamily="34" charset="0"/>
                <a:cs typeface="Times New Roman" panose="02020603050405020304" pitchFamily="18" charset="0"/>
              </a:rPr>
              <a:t>SYSTEM CONFIGURATION</a:t>
            </a:r>
            <a:endParaRPr lang="en-IN" sz="11500" dirty="0"/>
          </a:p>
        </p:txBody>
      </p:sp>
      <p:sp>
        <p:nvSpPr>
          <p:cNvPr id="3" name="Content Placeholder 2">
            <a:extLst>
              <a:ext uri="{FF2B5EF4-FFF2-40B4-BE49-F238E27FC236}">
                <a16:creationId xmlns:a16="http://schemas.microsoft.com/office/drawing/2014/main" id="{FE5CB74E-0732-ACB8-C067-DA5EE6A1E6B2}"/>
              </a:ext>
            </a:extLst>
          </p:cNvPr>
          <p:cNvSpPr>
            <a:spLocks noGrp="1"/>
          </p:cNvSpPr>
          <p:nvPr>
            <p:ph idx="1"/>
          </p:nvPr>
        </p:nvSpPr>
        <p:spPr/>
        <p:txBody>
          <a:bodyPr>
            <a:normAutofit/>
          </a:bodyPr>
          <a:lstStyle/>
          <a:p>
            <a:pPr algn="just">
              <a:lnSpc>
                <a:spcPct val="150000"/>
              </a:lnSpc>
              <a:spcAft>
                <a:spcPts val="1000"/>
              </a:spcAft>
            </a:pPr>
            <a:r>
              <a:rPr lang="en-IN" b="1" dirty="0">
                <a:effectLst/>
                <a:latin typeface="Times New Roman" panose="02020603050405020304" pitchFamily="18" charset="0"/>
                <a:ea typeface="Calibri" panose="020F0502020204030204" pitchFamily="34" charset="0"/>
                <a:cs typeface="Times New Roman" panose="02020603050405020304" pitchFamily="18" charset="0"/>
              </a:rPr>
              <a:t>Hardware Configuration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1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Processor: Core i3</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1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RAM: 2GB</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1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Speed: 1.3GHz or above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1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Hard Disk: 250 GB</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1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I/O Devices: Standard Keyboard &amp; Logitech Mouse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11036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45AC5-94AC-4C94-6824-DFF764E40638}"/>
              </a:ext>
            </a:extLst>
          </p:cNvPr>
          <p:cNvSpPr>
            <a:spLocks noGrp="1"/>
          </p:cNvSpPr>
          <p:nvPr>
            <p:ph type="title"/>
          </p:nvPr>
        </p:nvSpPr>
        <p:spPr/>
        <p:txBody>
          <a:bodyPr>
            <a:normAutofit/>
          </a:bodyPr>
          <a:lstStyle/>
          <a:p>
            <a:r>
              <a:rPr lang="en-IN" b="1" dirty="0">
                <a:effectLst/>
                <a:latin typeface="Times New Roman" panose="02020603050405020304" pitchFamily="18" charset="0"/>
                <a:ea typeface="Calibri" panose="020F0502020204030204" pitchFamily="34" charset="0"/>
                <a:cs typeface="Times New Roman" panose="02020603050405020304" pitchFamily="18" charset="0"/>
              </a:rPr>
              <a:t>SYSTEM CONFIGURATION</a:t>
            </a:r>
            <a:endParaRPr lang="en-IN" sz="11500" dirty="0"/>
          </a:p>
        </p:txBody>
      </p:sp>
      <p:sp>
        <p:nvSpPr>
          <p:cNvPr id="3" name="Content Placeholder 2">
            <a:extLst>
              <a:ext uri="{FF2B5EF4-FFF2-40B4-BE49-F238E27FC236}">
                <a16:creationId xmlns:a16="http://schemas.microsoft.com/office/drawing/2014/main" id="{FE5CB74E-0732-ACB8-C067-DA5EE6A1E6B2}"/>
              </a:ext>
            </a:extLst>
          </p:cNvPr>
          <p:cNvSpPr>
            <a:spLocks noGrp="1"/>
          </p:cNvSpPr>
          <p:nvPr>
            <p:ph idx="1"/>
          </p:nvPr>
        </p:nvSpPr>
        <p:spPr/>
        <p:txBody>
          <a:bodyPr>
            <a:normAutofit/>
          </a:bodyPr>
          <a:lstStyle/>
          <a:p>
            <a:pPr algn="just">
              <a:lnSpc>
                <a:spcPct val="150000"/>
              </a:lnSpc>
              <a:spcAft>
                <a:spcPts val="1000"/>
              </a:spcAft>
            </a:pPr>
            <a:r>
              <a:rPr lang="en-IN" b="1" dirty="0">
                <a:latin typeface="Times New Roman" panose="02020603050405020304" pitchFamily="18" charset="0"/>
                <a:ea typeface="Calibri" panose="020F0502020204030204" pitchFamily="34" charset="0"/>
                <a:cs typeface="Times New Roman" panose="02020603050405020304" pitchFamily="18" charset="0"/>
              </a:rPr>
              <a:t>Software</a:t>
            </a:r>
            <a:r>
              <a:rPr lang="en-IN" b="1" dirty="0">
                <a:effectLst/>
                <a:latin typeface="Times New Roman" panose="02020603050405020304" pitchFamily="18" charset="0"/>
                <a:ea typeface="Calibri" panose="020F0502020204030204" pitchFamily="34" charset="0"/>
                <a:cs typeface="Times New Roman" panose="02020603050405020304" pitchFamily="18" charset="0"/>
              </a:rPr>
              <a:t> Configuration</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1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Front-End: HTML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1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Client-Side: JAVASCRIPT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1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Server-Side: PYTHON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1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Back-End: MYSQL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10000"/>
              </a:lnSpc>
              <a:spcAft>
                <a:spcPts val="10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Browser: IE 6.0 or Later, Firefox, Chrome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30633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45AC5-94AC-4C94-6824-DFF764E40638}"/>
              </a:ext>
            </a:extLst>
          </p:cNvPr>
          <p:cNvSpPr>
            <a:spLocks noGrp="1"/>
          </p:cNvSpPr>
          <p:nvPr>
            <p:ph type="title"/>
          </p:nvPr>
        </p:nvSpPr>
        <p:spPr/>
        <p:txBody>
          <a:bodyPr>
            <a:normAutofit/>
          </a:bodyPr>
          <a:lstStyle/>
          <a:p>
            <a:r>
              <a:rPr lang="en-IN" b="1" dirty="0">
                <a:effectLst/>
                <a:latin typeface="Times New Roman" panose="02020603050405020304" pitchFamily="18" charset="0"/>
                <a:ea typeface="Calibri" panose="020F0502020204030204" pitchFamily="34" charset="0"/>
                <a:cs typeface="Times New Roman" panose="02020603050405020304" pitchFamily="18" charset="0"/>
              </a:rPr>
              <a:t>SYST</a:t>
            </a:r>
            <a:r>
              <a:rPr lang="en-IN" b="1" dirty="0">
                <a:latin typeface="Times New Roman" panose="02020603050405020304" pitchFamily="18" charset="0"/>
                <a:ea typeface="Calibri" panose="020F0502020204030204" pitchFamily="34" charset="0"/>
                <a:cs typeface="Times New Roman" panose="02020603050405020304" pitchFamily="18" charset="0"/>
              </a:rPr>
              <a:t>EM IMPLEMENTATION</a:t>
            </a:r>
            <a:endParaRPr lang="en-IN" sz="11500" dirty="0"/>
          </a:p>
        </p:txBody>
      </p:sp>
      <p:sp>
        <p:nvSpPr>
          <p:cNvPr id="3" name="Content Placeholder 2">
            <a:extLst>
              <a:ext uri="{FF2B5EF4-FFF2-40B4-BE49-F238E27FC236}">
                <a16:creationId xmlns:a16="http://schemas.microsoft.com/office/drawing/2014/main" id="{FE5CB74E-0732-ACB8-C067-DA5EE6A1E6B2}"/>
              </a:ext>
            </a:extLst>
          </p:cNvPr>
          <p:cNvSpPr>
            <a:spLocks noGrp="1"/>
          </p:cNvSpPr>
          <p:nvPr>
            <p:ph idx="1"/>
          </p:nvPr>
        </p:nvSpPr>
        <p:spPr>
          <a:xfrm>
            <a:off x="1175938" y="1865398"/>
            <a:ext cx="10058400" cy="4378085"/>
          </a:xfrm>
        </p:spPr>
        <p:txBody>
          <a:bodyPr>
            <a:normAutofit/>
          </a:bodyPr>
          <a:lstStyle/>
          <a:p>
            <a:pPr marL="0" indent="0" algn="l">
              <a:spcBef>
                <a:spcPts val="600"/>
              </a:spcBef>
              <a:buNone/>
            </a:pPr>
            <a:r>
              <a:rPr lang="en-US" sz="1900" b="1" i="0" u="sng" dirty="0">
                <a:solidFill>
                  <a:schemeClr val="tx1"/>
                </a:solidFill>
                <a:effectLst/>
                <a:latin typeface="Times New Roman" panose="02020603050405020304" pitchFamily="18" charset="0"/>
                <a:cs typeface="Times New Roman" panose="02020603050405020304" pitchFamily="18" charset="0"/>
              </a:rPr>
              <a:t>Front-End Technologies:</a:t>
            </a:r>
          </a:p>
          <a:p>
            <a:pPr marL="0" indent="0" algn="l">
              <a:spcBef>
                <a:spcPts val="600"/>
              </a:spcBef>
              <a:buNone/>
            </a:pPr>
            <a:r>
              <a:rPr lang="en-US" sz="1600" b="1" i="0" dirty="0">
                <a:solidFill>
                  <a:schemeClr val="tx1"/>
                </a:solidFill>
                <a:effectLst/>
                <a:latin typeface="Times New Roman" panose="02020603050405020304" pitchFamily="18" charset="0"/>
                <a:cs typeface="Times New Roman" panose="02020603050405020304" pitchFamily="18" charset="0"/>
              </a:rPr>
              <a:t>HTML:</a:t>
            </a:r>
            <a:r>
              <a:rPr lang="en-US" sz="1600" b="0" i="0" dirty="0">
                <a:solidFill>
                  <a:schemeClr val="tx1"/>
                </a:solidFill>
                <a:effectLst/>
                <a:latin typeface="Times New Roman" panose="02020603050405020304" pitchFamily="18" charset="0"/>
                <a:cs typeface="Times New Roman" panose="02020603050405020304" pitchFamily="18" charset="0"/>
              </a:rPr>
              <a:t> For structuring the web pages.</a:t>
            </a:r>
          </a:p>
          <a:p>
            <a:pPr marL="0" indent="0" algn="l">
              <a:spcBef>
                <a:spcPts val="600"/>
              </a:spcBef>
              <a:buNone/>
            </a:pPr>
            <a:r>
              <a:rPr lang="en-US" sz="1600" b="1" i="0" dirty="0">
                <a:solidFill>
                  <a:schemeClr val="tx1"/>
                </a:solidFill>
                <a:effectLst/>
                <a:latin typeface="Times New Roman" panose="02020603050405020304" pitchFamily="18" charset="0"/>
                <a:cs typeface="Times New Roman" panose="02020603050405020304" pitchFamily="18" charset="0"/>
              </a:rPr>
              <a:t>CSS:</a:t>
            </a:r>
            <a:r>
              <a:rPr lang="en-US" sz="1600" b="0" i="0" dirty="0">
                <a:solidFill>
                  <a:schemeClr val="tx1"/>
                </a:solidFill>
                <a:effectLst/>
                <a:latin typeface="Times New Roman" panose="02020603050405020304" pitchFamily="18" charset="0"/>
                <a:cs typeface="Times New Roman" panose="02020603050405020304" pitchFamily="18" charset="0"/>
              </a:rPr>
              <a:t> For styling and making the web pages visually appealing.</a:t>
            </a:r>
          </a:p>
          <a:p>
            <a:pPr marL="0" indent="0" algn="l">
              <a:spcBef>
                <a:spcPts val="600"/>
              </a:spcBef>
              <a:buNone/>
            </a:pPr>
            <a:r>
              <a:rPr lang="en-US" sz="1600" b="1" i="0" dirty="0">
                <a:solidFill>
                  <a:schemeClr val="tx1"/>
                </a:solidFill>
                <a:effectLst/>
                <a:latin typeface="Times New Roman" panose="02020603050405020304" pitchFamily="18" charset="0"/>
                <a:cs typeface="Times New Roman" panose="02020603050405020304" pitchFamily="18" charset="0"/>
              </a:rPr>
              <a:t>JavaScript:</a:t>
            </a:r>
            <a:r>
              <a:rPr lang="en-US" sz="1600" b="0" i="0" dirty="0">
                <a:solidFill>
                  <a:schemeClr val="tx1"/>
                </a:solidFill>
                <a:effectLst/>
                <a:latin typeface="Times New Roman" panose="02020603050405020304" pitchFamily="18" charset="0"/>
                <a:cs typeface="Times New Roman" panose="02020603050405020304" pitchFamily="18" charset="0"/>
              </a:rPr>
              <a:t> For adding interactivity and enhancing user experience on the client side.</a:t>
            </a:r>
          </a:p>
          <a:p>
            <a:pPr marL="0" indent="0" algn="l">
              <a:spcBef>
                <a:spcPts val="600"/>
              </a:spcBef>
              <a:buNone/>
            </a:pPr>
            <a:endParaRPr lang="en-US" sz="1600" b="0" i="0" dirty="0">
              <a:solidFill>
                <a:schemeClr val="tx1"/>
              </a:solidFill>
              <a:effectLst/>
              <a:latin typeface="Times New Roman" panose="02020603050405020304" pitchFamily="18" charset="0"/>
              <a:cs typeface="Times New Roman" panose="02020603050405020304" pitchFamily="18" charset="0"/>
            </a:endParaRPr>
          </a:p>
          <a:p>
            <a:pPr marL="0" indent="0" algn="l">
              <a:spcBef>
                <a:spcPts val="600"/>
              </a:spcBef>
              <a:buNone/>
            </a:pPr>
            <a:r>
              <a:rPr lang="en-US" sz="1900" b="1" i="0" u="sng" dirty="0">
                <a:solidFill>
                  <a:schemeClr val="tx1"/>
                </a:solidFill>
                <a:effectLst/>
                <a:latin typeface="Times New Roman" panose="02020603050405020304" pitchFamily="18" charset="0"/>
                <a:cs typeface="Times New Roman" panose="02020603050405020304" pitchFamily="18" charset="0"/>
              </a:rPr>
              <a:t>Back-End Technologies:</a:t>
            </a:r>
          </a:p>
          <a:p>
            <a:pPr marL="0" indent="0" algn="l">
              <a:spcBef>
                <a:spcPts val="600"/>
              </a:spcBef>
              <a:buNone/>
            </a:pPr>
            <a:r>
              <a:rPr lang="en-US" sz="1600" b="1" i="0" dirty="0">
                <a:solidFill>
                  <a:schemeClr val="tx1"/>
                </a:solidFill>
                <a:effectLst/>
                <a:latin typeface="Times New Roman" panose="02020603050405020304" pitchFamily="18" charset="0"/>
                <a:cs typeface="Times New Roman" panose="02020603050405020304" pitchFamily="18" charset="0"/>
              </a:rPr>
              <a:t>Python:</a:t>
            </a:r>
            <a:r>
              <a:rPr lang="en-US" sz="1600" b="0" i="0" dirty="0">
                <a:solidFill>
                  <a:schemeClr val="tx1"/>
                </a:solidFill>
                <a:effectLst/>
                <a:latin typeface="Times New Roman" panose="02020603050405020304" pitchFamily="18" charset="0"/>
                <a:cs typeface="Times New Roman" panose="02020603050405020304" pitchFamily="18" charset="0"/>
              </a:rPr>
              <a:t> The primary programming language used for server-side logic.</a:t>
            </a:r>
          </a:p>
          <a:p>
            <a:pPr marL="0" indent="0" algn="l">
              <a:spcBef>
                <a:spcPts val="600"/>
              </a:spcBef>
              <a:buNone/>
            </a:pPr>
            <a:r>
              <a:rPr lang="en-US" sz="1600" b="1" i="0" dirty="0">
                <a:solidFill>
                  <a:schemeClr val="tx1"/>
                </a:solidFill>
                <a:effectLst/>
                <a:latin typeface="Times New Roman" panose="02020603050405020304" pitchFamily="18" charset="0"/>
                <a:cs typeface="Times New Roman" panose="02020603050405020304" pitchFamily="18" charset="0"/>
              </a:rPr>
              <a:t>Framework (Django or Flask):</a:t>
            </a:r>
          </a:p>
          <a:p>
            <a:pPr marL="0" indent="0" algn="l">
              <a:spcBef>
                <a:spcPts val="600"/>
              </a:spcBef>
              <a:buNone/>
            </a:pPr>
            <a:r>
              <a:rPr lang="en-US" sz="1600" b="1" i="0" dirty="0">
                <a:solidFill>
                  <a:schemeClr val="tx1"/>
                </a:solidFill>
                <a:effectLst/>
                <a:latin typeface="Times New Roman" panose="02020603050405020304" pitchFamily="18" charset="0"/>
                <a:cs typeface="Times New Roman" panose="02020603050405020304" pitchFamily="18" charset="0"/>
              </a:rPr>
              <a:t>Django:</a:t>
            </a:r>
            <a:r>
              <a:rPr lang="en-US" sz="1600" b="0" i="0" dirty="0">
                <a:solidFill>
                  <a:schemeClr val="tx1"/>
                </a:solidFill>
                <a:effectLst/>
                <a:latin typeface="Times New Roman" panose="02020603050405020304" pitchFamily="18" charset="0"/>
                <a:cs typeface="Times New Roman" panose="02020603050405020304" pitchFamily="18" charset="0"/>
              </a:rPr>
              <a:t> Preferred for its robustness, built-in admin interface, and comprehensive features.</a:t>
            </a:r>
          </a:p>
          <a:p>
            <a:pPr marL="0" indent="0" algn="l">
              <a:spcBef>
                <a:spcPts val="600"/>
              </a:spcBef>
              <a:buNone/>
            </a:pPr>
            <a:r>
              <a:rPr lang="en-US" sz="1600" b="1" i="0" dirty="0">
                <a:solidFill>
                  <a:schemeClr val="tx1"/>
                </a:solidFill>
                <a:effectLst/>
                <a:latin typeface="Times New Roman" panose="02020603050405020304" pitchFamily="18" charset="0"/>
                <a:cs typeface="Times New Roman" panose="02020603050405020304" pitchFamily="18" charset="0"/>
              </a:rPr>
              <a:t>Flask:</a:t>
            </a:r>
            <a:r>
              <a:rPr lang="en-US" sz="1600" b="0" i="0" dirty="0">
                <a:solidFill>
                  <a:schemeClr val="tx1"/>
                </a:solidFill>
                <a:effectLst/>
                <a:latin typeface="Times New Roman" panose="02020603050405020304" pitchFamily="18" charset="0"/>
                <a:cs typeface="Times New Roman" panose="02020603050405020304" pitchFamily="18" charset="0"/>
              </a:rPr>
              <a:t> An alternative lightweight framework, suitable for simpler applications.</a:t>
            </a:r>
          </a:p>
          <a:p>
            <a:pPr marL="0" indent="0" algn="l">
              <a:spcBef>
                <a:spcPts val="600"/>
              </a:spcBef>
              <a:buNone/>
            </a:pPr>
            <a:endParaRPr lang="en-US" sz="1600" b="0" i="0" dirty="0">
              <a:solidFill>
                <a:schemeClr val="tx1"/>
              </a:solidFill>
              <a:effectLst/>
              <a:latin typeface="Times New Roman" panose="02020603050405020304" pitchFamily="18" charset="0"/>
              <a:cs typeface="Times New Roman" panose="02020603050405020304" pitchFamily="18" charset="0"/>
            </a:endParaRPr>
          </a:p>
          <a:p>
            <a:pPr marL="0" indent="0" algn="l">
              <a:spcBef>
                <a:spcPts val="600"/>
              </a:spcBef>
              <a:buNone/>
            </a:pPr>
            <a:r>
              <a:rPr lang="en-US" sz="1900" b="1" i="0" u="sng" dirty="0">
                <a:solidFill>
                  <a:schemeClr val="tx1"/>
                </a:solidFill>
                <a:effectLst/>
                <a:latin typeface="Times New Roman" panose="02020603050405020304" pitchFamily="18" charset="0"/>
                <a:cs typeface="Times New Roman" panose="02020603050405020304" pitchFamily="18" charset="0"/>
              </a:rPr>
              <a:t>Database:</a:t>
            </a:r>
          </a:p>
          <a:p>
            <a:pPr marL="0" indent="0" algn="l">
              <a:spcBef>
                <a:spcPts val="600"/>
              </a:spcBef>
              <a:buNone/>
            </a:pPr>
            <a:r>
              <a:rPr lang="en-US" sz="1600" b="1" i="0" dirty="0">
                <a:solidFill>
                  <a:schemeClr val="tx1"/>
                </a:solidFill>
                <a:effectLst/>
                <a:latin typeface="Times New Roman" panose="02020603050405020304" pitchFamily="18" charset="0"/>
                <a:cs typeface="Times New Roman" panose="02020603050405020304" pitchFamily="18" charset="0"/>
              </a:rPr>
              <a:t>MySQL:</a:t>
            </a:r>
            <a:r>
              <a:rPr lang="en-US" sz="1600" b="0" i="0" dirty="0">
                <a:solidFill>
                  <a:schemeClr val="tx1"/>
                </a:solidFill>
                <a:effectLst/>
                <a:latin typeface="Times New Roman" panose="02020603050405020304" pitchFamily="18" charset="0"/>
                <a:cs typeface="Times New Roman" panose="02020603050405020304" pitchFamily="18" charset="0"/>
              </a:rPr>
              <a:t> A relational database used to store user data, complaints, statuses, and other necessary information.</a:t>
            </a:r>
          </a:p>
          <a:p>
            <a:endParaRPr lang="en-IN" dirty="0"/>
          </a:p>
        </p:txBody>
      </p:sp>
    </p:spTree>
    <p:extLst>
      <p:ext uri="{BB962C8B-B14F-4D97-AF65-F5344CB8AC3E}">
        <p14:creationId xmlns:p14="http://schemas.microsoft.com/office/powerpoint/2010/main" val="1593783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5F438-D4A2-A09A-F4E1-28473D6DC8B4}"/>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DEVELOPMENT TOOLS</a:t>
            </a:r>
            <a:endParaRPr lang="en-IN" dirty="0"/>
          </a:p>
        </p:txBody>
      </p:sp>
      <p:sp>
        <p:nvSpPr>
          <p:cNvPr id="3" name="Content Placeholder 2">
            <a:extLst>
              <a:ext uri="{FF2B5EF4-FFF2-40B4-BE49-F238E27FC236}">
                <a16:creationId xmlns:a16="http://schemas.microsoft.com/office/drawing/2014/main" id="{E72DB6B0-46DD-AEC1-CD4E-EFF3FB620655}"/>
              </a:ext>
            </a:extLst>
          </p:cNvPr>
          <p:cNvSpPr>
            <a:spLocks noGrp="1"/>
          </p:cNvSpPr>
          <p:nvPr>
            <p:ph idx="1"/>
          </p:nvPr>
        </p:nvSpPr>
        <p:spPr/>
        <p:txBody>
          <a:bodyPr/>
          <a:lstStyle/>
          <a:p>
            <a:r>
              <a:rPr lang="en-US" b="1" i="0" u="sng" dirty="0">
                <a:solidFill>
                  <a:schemeClr val="tx1"/>
                </a:solidFill>
                <a:effectLst/>
                <a:latin typeface="Times New Roman" panose="02020603050405020304" pitchFamily="18" charset="0"/>
                <a:cs typeface="Times New Roman" panose="02020603050405020304" pitchFamily="18" charset="0"/>
              </a:rPr>
              <a:t>Integrated Development Environment (IDE):</a:t>
            </a:r>
            <a:r>
              <a:rPr lang="en-US" b="0" i="0" u="sng" dirty="0">
                <a:solidFill>
                  <a:schemeClr val="tx1"/>
                </a:solidFill>
                <a:effectLst/>
                <a:latin typeface="Times New Roman" panose="02020603050405020304" pitchFamily="18" charset="0"/>
                <a:cs typeface="Times New Roman" panose="02020603050405020304" pitchFamily="18" charset="0"/>
              </a:rPr>
              <a:t> </a:t>
            </a:r>
          </a:p>
          <a:p>
            <a:pPr>
              <a:buClrTx/>
              <a:buFont typeface="Wingdings" panose="05000000000000000000" pitchFamily="2" charset="2"/>
              <a:buChar char="Ø"/>
            </a:pPr>
            <a:r>
              <a:rPr lang="en-US" b="0" i="0" dirty="0">
                <a:solidFill>
                  <a:schemeClr val="tx1"/>
                </a:solidFill>
                <a:effectLst/>
                <a:latin typeface="Times New Roman" panose="02020603050405020304" pitchFamily="18" charset="0"/>
                <a:cs typeface="Times New Roman" panose="02020603050405020304" pitchFamily="18" charset="0"/>
              </a:rPr>
              <a:t> Tools like PyCharm or Visual Studio Code to write and manage the code effectively.</a:t>
            </a:r>
          </a:p>
          <a:p>
            <a:endParaRPr lang="en-US" b="0" i="0" dirty="0">
              <a:solidFill>
                <a:schemeClr val="tx1"/>
              </a:solidFill>
              <a:effectLst/>
              <a:latin typeface="Times New Roman" panose="02020603050405020304" pitchFamily="18" charset="0"/>
              <a:cs typeface="Times New Roman" panose="02020603050405020304" pitchFamily="18" charset="0"/>
            </a:endParaRPr>
          </a:p>
          <a:p>
            <a:r>
              <a:rPr lang="en-US" b="1" i="0" u="sng" dirty="0">
                <a:solidFill>
                  <a:schemeClr val="tx1"/>
                </a:solidFill>
                <a:effectLst/>
                <a:latin typeface="Times New Roman" panose="02020603050405020304" pitchFamily="18" charset="0"/>
                <a:cs typeface="Times New Roman" panose="02020603050405020304" pitchFamily="18" charset="0"/>
              </a:rPr>
              <a:t>Version Control System</a:t>
            </a:r>
            <a:r>
              <a:rPr lang="en-US" b="1" i="0" dirty="0">
                <a:solidFill>
                  <a:schemeClr val="tx1"/>
                </a:solidFill>
                <a:effectLst/>
                <a:latin typeface="Times New Roman" panose="02020603050405020304" pitchFamily="18" charset="0"/>
                <a:cs typeface="Times New Roman" panose="02020603050405020304" pitchFamily="18" charset="0"/>
              </a:rPr>
              <a:t>:</a:t>
            </a:r>
            <a:r>
              <a:rPr lang="en-US" b="0" i="0" dirty="0">
                <a:solidFill>
                  <a:schemeClr val="tx1"/>
                </a:solidFill>
                <a:effectLst/>
                <a:latin typeface="Times New Roman" panose="02020603050405020304" pitchFamily="18" charset="0"/>
                <a:cs typeface="Times New Roman" panose="02020603050405020304" pitchFamily="18" charset="0"/>
              </a:rPr>
              <a:t> </a:t>
            </a:r>
          </a:p>
          <a:p>
            <a:pPr>
              <a:buClrTx/>
              <a:buFont typeface="Wingdings" panose="05000000000000000000" pitchFamily="2" charset="2"/>
              <a:buChar char="Ø"/>
            </a:pPr>
            <a:r>
              <a:rPr lang="en-US" b="0" i="0" dirty="0">
                <a:solidFill>
                  <a:schemeClr val="tx1"/>
                </a:solidFill>
                <a:effectLst/>
                <a:latin typeface="Times New Roman" panose="02020603050405020304" pitchFamily="18" charset="0"/>
                <a:cs typeface="Times New Roman" panose="02020603050405020304" pitchFamily="18" charset="0"/>
              </a:rPr>
              <a:t> Git for tracking changes and collaborating with other developers.</a:t>
            </a:r>
          </a:p>
          <a:p>
            <a:endParaRPr lang="en-US" b="0" i="0" dirty="0">
              <a:solidFill>
                <a:schemeClr val="tx1"/>
              </a:solidFill>
              <a:effectLst/>
              <a:latin typeface="Times New Roman" panose="02020603050405020304" pitchFamily="18" charset="0"/>
              <a:cs typeface="Times New Roman" panose="02020603050405020304" pitchFamily="18" charset="0"/>
            </a:endParaRPr>
          </a:p>
          <a:p>
            <a:r>
              <a:rPr lang="en-US" b="1" i="0" u="sng" dirty="0">
                <a:solidFill>
                  <a:schemeClr val="tx1"/>
                </a:solidFill>
                <a:effectLst/>
                <a:latin typeface="Times New Roman" panose="02020603050405020304" pitchFamily="18" charset="0"/>
                <a:cs typeface="Times New Roman" panose="02020603050405020304" pitchFamily="18" charset="0"/>
              </a:rPr>
              <a:t>Browser:</a:t>
            </a:r>
            <a:r>
              <a:rPr lang="en-US" b="0" i="0" u="sng" dirty="0">
                <a:solidFill>
                  <a:schemeClr val="tx1"/>
                </a:solidFill>
                <a:effectLst/>
                <a:latin typeface="Times New Roman" panose="02020603050405020304" pitchFamily="18" charset="0"/>
                <a:cs typeface="Times New Roman" panose="02020603050405020304" pitchFamily="18" charset="0"/>
              </a:rPr>
              <a:t> </a:t>
            </a:r>
          </a:p>
          <a:p>
            <a:pPr>
              <a:buClrTx/>
              <a:buFont typeface="Wingdings" panose="05000000000000000000" pitchFamily="2" charset="2"/>
              <a:buChar char="Ø"/>
            </a:pPr>
            <a:r>
              <a:rPr lang="en-US" b="0" i="0" dirty="0">
                <a:solidFill>
                  <a:schemeClr val="tx1"/>
                </a:solidFill>
                <a:effectLst/>
                <a:latin typeface="Times New Roman" panose="02020603050405020304" pitchFamily="18" charset="0"/>
                <a:cs typeface="Times New Roman" panose="02020603050405020304" pitchFamily="18" charset="0"/>
              </a:rPr>
              <a:t> Latest versions of Chrome, Firefox, or Internet Explorer for testing the web application.</a:t>
            </a:r>
          </a:p>
          <a:p>
            <a:endParaRPr lang="en-IN" dirty="0"/>
          </a:p>
        </p:txBody>
      </p:sp>
    </p:spTree>
    <p:extLst>
      <p:ext uri="{BB962C8B-B14F-4D97-AF65-F5344CB8AC3E}">
        <p14:creationId xmlns:p14="http://schemas.microsoft.com/office/powerpoint/2010/main" val="1901643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405295-3BF7-B9DC-4BF3-5A0FFA5CE5DE}"/>
              </a:ext>
            </a:extLst>
          </p:cNvPr>
          <p:cNvSpPr txBox="1"/>
          <p:nvPr/>
        </p:nvSpPr>
        <p:spPr>
          <a:xfrm>
            <a:off x="4232787" y="2459504"/>
            <a:ext cx="3726426" cy="193899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sz="6000" b="1" dirty="0">
                <a:ln w="22225">
                  <a:solidFill>
                    <a:schemeClr val="accent2"/>
                  </a:solidFill>
                  <a:prstDash val="solid"/>
                </a:ln>
                <a:solidFill>
                  <a:schemeClr val="accent2">
                    <a:lumMod val="40000"/>
                    <a:lumOff val="60000"/>
                  </a:schemeClr>
                </a:solidFill>
              </a:rPr>
              <a:t>THANK</a:t>
            </a:r>
          </a:p>
          <a:p>
            <a:pPr lvl="1"/>
            <a:r>
              <a:rPr lang="en-IN" sz="6000" b="1" dirty="0">
                <a:ln w="22225">
                  <a:solidFill>
                    <a:schemeClr val="accent2"/>
                  </a:solidFill>
                  <a:prstDash val="solid"/>
                </a:ln>
                <a:solidFill>
                  <a:schemeClr val="accent2">
                    <a:lumMod val="40000"/>
                    <a:lumOff val="60000"/>
                  </a:schemeClr>
                </a:solidFill>
              </a:rPr>
              <a:t>         YOU</a:t>
            </a:r>
          </a:p>
        </p:txBody>
      </p:sp>
    </p:spTree>
    <p:extLst>
      <p:ext uri="{BB962C8B-B14F-4D97-AF65-F5344CB8AC3E}">
        <p14:creationId xmlns:p14="http://schemas.microsoft.com/office/powerpoint/2010/main" val="21346091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163</TotalTime>
  <Words>734</Words>
  <Application>Microsoft Office PowerPoint</Application>
  <PresentationFormat>Widescreen</PresentationFormat>
  <Paragraphs>63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Calibri Light</vt:lpstr>
      <vt:lpstr>Open Sans</vt:lpstr>
      <vt:lpstr>Times New Roman</vt:lpstr>
      <vt:lpstr>Wingdings</vt:lpstr>
      <vt:lpstr>Retrospect</vt:lpstr>
      <vt:lpstr>IET Review-1  Grievances Registration and Management System</vt:lpstr>
      <vt:lpstr>Introduction To Company</vt:lpstr>
      <vt:lpstr>About The Company </vt:lpstr>
      <vt:lpstr>Problem Definition</vt:lpstr>
      <vt:lpstr>Existing  System</vt:lpstr>
      <vt:lpstr>Proposed System</vt:lpstr>
      <vt:lpstr>SYSTEM CONFIGURATION</vt:lpstr>
      <vt:lpstr>SYSTEM CONFIGURATION</vt:lpstr>
      <vt:lpstr>SYSTEM IMPLEMENTATION</vt:lpstr>
      <vt:lpstr>DEVELOPMENT TOOLS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IET Review-1</dc:title>
  <dc:creator>Hafil A</dc:creator>
  <cp:lastModifiedBy>Hafil A</cp:lastModifiedBy>
  <cp:revision>1</cp:revision>
  <dcterms:created xsi:type="dcterms:W3CDTF">2024-05-23T11:12:45Z</dcterms:created>
  <dcterms:modified xsi:type="dcterms:W3CDTF">2024-06-07T06:22:54Z</dcterms:modified>
</cp:coreProperties>
</file>